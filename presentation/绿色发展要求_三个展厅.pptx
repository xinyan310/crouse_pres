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从城市生活切入。调研时可以选一个与出行或居住相关的真实展项，记录它解决什么问题、需要什么条件，再联系自己所在城市讨论。我们的思考是，绿色生活的普及依赖便利且可负担的公共服务。中国式现代化的绿色发展要求，应体现在规划、建设和治理的全过程。不要在未核实前断言展厅设有哪些技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把全球议题与中国发展联系起来。先用展板中能够核实的证据解释变暖趋势，再说明气候风险为何与能源、产业和生活相关。我国推进碳达峰碳中和，并不意味着脱离发展阶段和能源安全条件；关键是统筹发展与减排、有序推进转型，同时提高适应能力。双碳目标是政策目标，不能写成已经完成的成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重在纠正常见误解：碳循环是自然过程，问题在于人类活动改变了碳收支平衡。可以根据现场模型解释碳从哪里来、到哪里去，再以生活用品为例讨论全生命周期排放。中国式现代化要求把生态保护与生产生活方式转变结合起来；植树和碳汇很重要，但不能成为高排放的免责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57168"/>
                </a:solidFill>
                <a:latin typeface="Microsoft YaHei"/>
              </a:defRPr>
            </a:pPr>
            <a:r>
              <a:t>实地调研 · 低碳城市展厅                                      中国式现代化 × 绿色发展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5647"/>
                </a:solidFill>
                <a:latin typeface="Microsoft YaHei"/>
              </a:defRPr>
            </a:pPr>
            <a:r>
              <a:t>城市现代化，如何让绿色成为生活底色？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7635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185647"/>
                </a:solidFill>
                <a:latin typeface="Microsoft YaHei"/>
              </a:defRPr>
            </a:pPr>
            <a:r>
              <a:t>中国发展背景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65376"/>
            <a:ext cx="745236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B35"/>
                </a:solidFill>
                <a:latin typeface="Microsoft YaHei"/>
              </a:defRPr>
            </a:pPr>
            <a:r>
              <a:t>中国城镇化持续推进，城市集中了生产、交通、建筑与消费活动。绿色转型需要把节能减排嵌入城市规划、基础设施和公共服务。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85647"/>
                </a:solidFill>
                <a:latin typeface="Microsoft YaHei"/>
              </a:defRPr>
            </a:pPr>
            <a:r>
              <a:t>调研过程｜待照片核实补充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64992"/>
            <a:ext cx="356616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13B35"/>
                </a:solidFill>
                <a:latin typeface="Microsoft YaHei"/>
              </a:defRPr>
            </a:pPr>
            <a:r>
              <a:t>观察线索：寻找交通、建筑、能源或资源利用相关展项，核对实际名称。</a:t>
            </a:r>
          </a:p>
          <a:p>
            <a:pPr>
              <a:spcAft>
                <a:spcPts val="900"/>
              </a:spcAft>
              <a:defRPr sz="1500" b="0">
                <a:solidFill>
                  <a:srgbClr val="213B35"/>
                </a:solidFill>
                <a:latin typeface="Microsoft YaHei"/>
              </a:defRPr>
            </a:pPr>
            <a:r>
              <a:t>记录方法：拍摄展项全景与说明牌，记录技术原理、适用场景及互动反馈。</a:t>
            </a:r>
          </a:p>
          <a:p>
            <a:pPr>
              <a:spcAft>
                <a:spcPts val="900"/>
              </a:spcAft>
              <a:defRPr sz="1500" b="0">
                <a:solidFill>
                  <a:srgbClr val="213B35"/>
                </a:solidFill>
                <a:latin typeface="Microsoft YaHei"/>
              </a:defRPr>
            </a:pPr>
            <a:r>
              <a:t>比较问题：联系日常出行、居住和消费，讨论绿色选择是否便利、可负担。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92608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85647"/>
                </a:solidFill>
                <a:latin typeface="Microsoft YaHei"/>
              </a:defRPr>
            </a:pPr>
            <a:r>
              <a:t>相关思考｜从展项走向现实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364992"/>
            <a:ext cx="361188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13B35"/>
                </a:solidFill>
                <a:latin typeface="Microsoft YaHei"/>
              </a:defRPr>
            </a:pPr>
            <a:r>
              <a:t>绿色发展不能只依靠个人自觉，还需要公共交通、节能建筑等系统支持。</a:t>
            </a:r>
          </a:p>
          <a:p>
            <a:pPr>
              <a:spcAft>
                <a:spcPts val="900"/>
              </a:spcAft>
              <a:defRPr sz="1600" b="0">
                <a:solidFill>
                  <a:srgbClr val="213B35"/>
                </a:solidFill>
                <a:latin typeface="Microsoft YaHei"/>
              </a:defRPr>
            </a:pPr>
            <a:r>
              <a:t>评价城市现代化，既看建设规模，也看资源效率、环境质量和居民体验。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1691640"/>
            <a:ext cx="3291840" cy="4069080"/>
          </a:xfrm>
          <a:prstGeom prst="rect">
            <a:avLst/>
          </a:prstGeom>
          <a:solidFill>
            <a:srgbClr val="E0E9E1"/>
          </a:solidFill>
          <a:ln>
            <a:solidFill>
              <a:srgbClr val="A7B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2792" y="2788920"/>
            <a:ext cx="2788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57168"/>
                </a:solidFill>
                <a:latin typeface="Microsoft YaHei"/>
              </a:defRPr>
            </a:pPr>
            <a:r>
              <a:t>建议照片：展厅标识 + 城市相关展项</a:t>
            </a:r>
          </a:p>
          <a:p>
            <a:pPr>
              <a:spcAft>
                <a:spcPts val="900"/>
              </a:spcAft>
              <a:defRPr sz="1800" b="0">
                <a:solidFill>
                  <a:srgbClr val="557168"/>
                </a:solidFill>
                <a:latin typeface="Microsoft YaHei"/>
              </a:defRPr>
            </a:pPr>
            <a:r>
              <a:t>待上传后替换此区域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2531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85647"/>
                </a:solidFill>
                <a:latin typeface="Microsoft YaHei"/>
              </a:defRPr>
            </a:pPr>
            <a:r>
              <a:t>绿色城市 = 技术创新 + 系统治理 + 公众参与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57168"/>
                </a:solidFill>
                <a:latin typeface="Microsoft YaHei"/>
              </a:defRPr>
            </a:pPr>
            <a:r>
              <a:t>01 / 03  ·  依据：二十大报告；碳达峰碳中和相关政策；IPCC AR6（详见配套文稿）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57168"/>
                </a:solidFill>
                <a:latin typeface="Microsoft YaHei"/>
              </a:defRPr>
            </a:pPr>
            <a:r>
              <a:t>实地调研 · 全球变暖展厅                                      中国式现代化 × 绿色发展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5647"/>
                </a:solidFill>
                <a:latin typeface="Microsoft YaHei"/>
              </a:defRPr>
            </a:pPr>
            <a:r>
              <a:t>发展与减排，为什么必须协同推进？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7635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185647"/>
                </a:solidFill>
                <a:latin typeface="Microsoft YaHei"/>
              </a:defRPr>
            </a:pPr>
            <a:r>
              <a:t>中国发展背景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65376"/>
            <a:ext cx="745236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B35"/>
                </a:solidFill>
                <a:latin typeface="Microsoft YaHei"/>
              </a:defRPr>
            </a:pPr>
            <a:r>
              <a:t>我国处在产业转型和能源结构调整进程中，既要满足发展与民生需要，也要应对气候风险。已提出力争2030年前实现碳达峰、努力争取2060年前实现碳中和。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85647"/>
                </a:solidFill>
                <a:latin typeface="Microsoft YaHei"/>
              </a:defRPr>
            </a:pPr>
            <a:r>
              <a:t>调研过程｜待照片核实补充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64992"/>
            <a:ext cx="356616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13B35"/>
                </a:solidFill>
                <a:latin typeface="Microsoft YaHei"/>
              </a:defRPr>
            </a:pPr>
            <a:r>
              <a:t>观察线索：寻找温室效应、气候变化证据及影响相关展示。</a:t>
            </a:r>
          </a:p>
          <a:p>
            <a:pPr>
              <a:spcAft>
                <a:spcPts val="900"/>
              </a:spcAft>
              <a:defRPr sz="1500" b="0">
                <a:solidFill>
                  <a:srgbClr val="213B35"/>
                </a:solidFill>
                <a:latin typeface="Microsoft YaHei"/>
              </a:defRPr>
            </a:pPr>
            <a:r>
              <a:t>记录方法：区分天气与气候；摘录图表的年份、单位、基准期和出处。</a:t>
            </a:r>
          </a:p>
          <a:p>
            <a:pPr>
              <a:spcAft>
                <a:spcPts val="900"/>
              </a:spcAft>
              <a:defRPr sz="1500" b="0">
                <a:solidFill>
                  <a:srgbClr val="213B35"/>
                </a:solidFill>
                <a:latin typeface="Microsoft YaHei"/>
              </a:defRPr>
            </a:pPr>
            <a:r>
              <a:t>追问机制：梳理“排放—增暖—影响”，不把单次极端天气直接归因于气候变化。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92608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85647"/>
                </a:solidFill>
                <a:latin typeface="Microsoft YaHei"/>
              </a:defRPr>
            </a:pPr>
            <a:r>
              <a:t>相关思考｜从展项走向现实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364992"/>
            <a:ext cx="361188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13B35"/>
                </a:solidFill>
                <a:latin typeface="Microsoft YaHei"/>
              </a:defRPr>
            </a:pPr>
            <a:r>
              <a:t>“先污染、后治理”的路径会增加长期成本，发展方式转型应尽早推进。</a:t>
            </a:r>
          </a:p>
          <a:p>
            <a:pPr>
              <a:spcAft>
                <a:spcPts val="900"/>
              </a:spcAft>
              <a:defRPr sz="1600" b="0">
                <a:solidFill>
                  <a:srgbClr val="213B35"/>
                </a:solidFill>
                <a:latin typeface="Microsoft YaHei"/>
              </a:defRPr>
            </a:pPr>
            <a:r>
              <a:t>减排与适应需要并行：优化能源和产业结构，也提升城市与社会应对气候风险的能力。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1691640"/>
            <a:ext cx="3291840" cy="4069080"/>
          </a:xfrm>
          <a:prstGeom prst="rect">
            <a:avLst/>
          </a:prstGeom>
          <a:solidFill>
            <a:srgbClr val="E0E9E1"/>
          </a:solidFill>
          <a:ln>
            <a:solidFill>
              <a:srgbClr val="A7B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2792" y="2788920"/>
            <a:ext cx="2788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57168"/>
                </a:solidFill>
                <a:latin typeface="Microsoft YaHei"/>
              </a:defRPr>
            </a:pPr>
            <a:r>
              <a:t>建议照片：气候图表 + 影响说明</a:t>
            </a:r>
          </a:p>
          <a:p>
            <a:pPr>
              <a:spcAft>
                <a:spcPts val="900"/>
              </a:spcAft>
              <a:defRPr sz="1800" b="0">
                <a:solidFill>
                  <a:srgbClr val="557168"/>
                </a:solidFill>
                <a:latin typeface="Microsoft YaHei"/>
              </a:defRPr>
            </a:pPr>
            <a:r>
              <a:t>保留年份、单位与来源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2531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85647"/>
                </a:solidFill>
                <a:latin typeface="Microsoft YaHei"/>
              </a:defRPr>
            </a:pPr>
            <a:r>
              <a:t>现代化的质量，也体现在对长期气候风险的回应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57168"/>
                </a:solidFill>
                <a:latin typeface="Microsoft YaHei"/>
              </a:defRPr>
            </a:pPr>
            <a:r>
              <a:t>02 / 03  ·  依据：二十大报告；碳达峰碳中和相关政策；IPCC AR6（详见配套文稿）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57168"/>
                </a:solidFill>
                <a:latin typeface="Microsoft YaHei"/>
              </a:defRPr>
            </a:pPr>
            <a:r>
              <a:t>实地调研 · 碳循环展厅                                      中国式现代化 × 绿色发展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5647"/>
                </a:solidFill>
                <a:latin typeface="Microsoft YaHei"/>
              </a:defRPr>
            </a:pPr>
            <a:r>
              <a:t>理解碳的流动，才能看清减排的边界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7635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185647"/>
                </a:solidFill>
                <a:latin typeface="Microsoft YaHei"/>
              </a:defRPr>
            </a:pPr>
            <a:r>
              <a:t>中国发展背景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65376"/>
            <a:ext cx="745236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B35"/>
                </a:solidFill>
                <a:latin typeface="Microsoft YaHei"/>
              </a:defRPr>
            </a:pPr>
            <a:r>
              <a:t>我国推进绿色转型，既涉及能源和工业排放，也涉及森林、湿地等生态系统保护。理解碳循环，有助于把节能减排与生态保护联系起来。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85647"/>
                </a:solidFill>
                <a:latin typeface="Microsoft YaHei"/>
              </a:defRPr>
            </a:pPr>
            <a:r>
              <a:t>调研过程｜待照片核实补充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64992"/>
            <a:ext cx="356616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13B35"/>
                </a:solidFill>
                <a:latin typeface="Microsoft YaHei"/>
              </a:defRPr>
            </a:pPr>
            <a:r>
              <a:t>观察线索：寻找大气、植被、土壤、海洋之间碳交换的示意或模型。</a:t>
            </a:r>
          </a:p>
          <a:p>
            <a:pPr>
              <a:spcAft>
                <a:spcPts val="900"/>
              </a:spcAft>
              <a:defRPr sz="1500" b="0">
                <a:solidFill>
                  <a:srgbClr val="213B35"/>
                </a:solidFill>
                <a:latin typeface="Microsoft YaHei"/>
              </a:defRPr>
            </a:pPr>
            <a:r>
              <a:t>记录方法：画出“碳源—流动—碳汇”简图，区分自然过程与人类活动。</a:t>
            </a:r>
          </a:p>
          <a:p>
            <a:pPr>
              <a:spcAft>
                <a:spcPts val="900"/>
              </a:spcAft>
              <a:defRPr sz="1500" b="0">
                <a:solidFill>
                  <a:srgbClr val="213B35"/>
                </a:solidFill>
                <a:latin typeface="Microsoft YaHei"/>
              </a:defRPr>
            </a:pPr>
            <a:r>
              <a:t>联系生活：追问一件产品从生产、使用到废弃的排放，避免只看使用环节。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92608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85647"/>
                </a:solidFill>
                <a:latin typeface="Microsoft YaHei"/>
              </a:defRPr>
            </a:pPr>
            <a:r>
              <a:t>相关思考｜从展项走向现实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364992"/>
            <a:ext cx="361188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13B35"/>
                </a:solidFill>
                <a:latin typeface="Microsoft YaHei"/>
              </a:defRPr>
            </a:pPr>
            <a:r>
              <a:t>碳中和不等于零排放；碳汇具有容量、持续性等限制，不能替代源头减排。</a:t>
            </a:r>
          </a:p>
          <a:p>
            <a:pPr>
              <a:spcAft>
                <a:spcPts val="900"/>
              </a:spcAft>
              <a:defRPr sz="1600" b="0">
                <a:solidFill>
                  <a:srgbClr val="213B35"/>
                </a:solidFill>
                <a:latin typeface="Microsoft YaHei"/>
              </a:defRPr>
            </a:pPr>
            <a:r>
              <a:t>循环利用和生态修复都需考虑实际条件，不能简单等同于“零碳”。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1691640"/>
            <a:ext cx="3291840" cy="4069080"/>
          </a:xfrm>
          <a:prstGeom prst="rect">
            <a:avLst/>
          </a:prstGeom>
          <a:solidFill>
            <a:srgbClr val="E0E9E1"/>
          </a:solidFill>
          <a:ln>
            <a:solidFill>
              <a:srgbClr val="A7B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2792" y="2788920"/>
            <a:ext cx="2788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57168"/>
                </a:solidFill>
                <a:latin typeface="Microsoft YaHei"/>
              </a:defRPr>
            </a:pPr>
            <a:r>
              <a:t>建议照片：碳循环示意 + 互动模型</a:t>
            </a:r>
          </a:p>
          <a:p>
            <a:pPr>
              <a:spcAft>
                <a:spcPts val="900"/>
              </a:spcAft>
              <a:defRPr sz="1800" b="0">
                <a:solidFill>
                  <a:srgbClr val="557168"/>
                </a:solidFill>
                <a:latin typeface="Microsoft YaHei"/>
              </a:defRPr>
            </a:pPr>
            <a:r>
              <a:t>待照片核实后标注碳源与碳汇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2531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85647"/>
                </a:solidFill>
                <a:latin typeface="Microsoft YaHei"/>
              </a:defRPr>
            </a:pPr>
            <a:r>
              <a:t>源头减排优先，资源循环与生态保护协同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57168"/>
                </a:solidFill>
                <a:latin typeface="Microsoft YaHei"/>
              </a:defRPr>
            </a:pPr>
            <a:r>
              <a:t>03 / 03  ·  依据：二十大报告；碳达峰碳中和相关政策；IPCC AR6（详见配套文稿）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